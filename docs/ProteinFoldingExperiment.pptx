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916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 Folding Model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MSA Impact Study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3886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of AlphaFold2, Boltz, Chai, and ESMFold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CWL workflows via GoWe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Olson and Andreas Wilke  |  BV-BRC / DXKB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Compare Folding Models?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14600" cy="3108960"/>
          </a:xfrm>
          <a:prstGeom prst="rect">
            <a:avLst/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Proliferation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folding tools now available (AF2, Boltz, Chai, ESM), each with different architectures and strengths.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417320"/>
            <a:ext cx="2514600" cy="3108960"/>
          </a:xfrm>
          <a:prstGeom prst="rect">
            <a:avLst/>
          </a:prstGeom>
          <a:solidFill>
            <a:srgbClr val="122A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916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240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MSA Uncertainty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27432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MSA quality and depth actually affect predictions? What's the minimum MSA size needed?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417320"/>
            <a:ext cx="2514600" cy="3108960"/>
          </a:xfrm>
          <a:prstGeom prst="rect">
            <a:avLst/>
          </a:prstGeom>
          <a:solidFill>
            <a:srgbClr val="0B192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6916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240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Guidance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46520" y="27432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need empirical evidence for tool selection and MSA strategy in their specific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Mode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No-MSA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182880" cy="1828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Single-seq A3M*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wilke/alphafold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standard, JackHMMER+HHblits MSA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2788920"/>
            <a:ext cx="182880" cy="1828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/ Server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606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dxkb/boltz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Diffusion-based, YAML input, potentials steering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3383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/ 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dxkb/chai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3383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proteins, nucleic acids, ligands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" y="4343400"/>
            <a:ext cx="182880" cy="182880"/>
          </a:xfrm>
          <a:prstGeom prst="ellipse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4160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9456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4160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dxkb/esmfold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4160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baseline, single-sequence only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AlphaFold2 requires MSA; for no-MSA condition we supply a single-sequence A3M file.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Within-Tool Quality Assessment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737360" cy="777240"/>
          </a:xfrm>
          <a:prstGeom prst="rect">
            <a:avLst/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1737360" cy="777240"/>
          </a:xfrm>
          <a:prstGeom prst="rect">
            <a:avLst/>
          </a:prstGeom>
          <a:solidFill>
            <a:srgbClr val="122A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1737360" cy="777240"/>
          </a:xfrm>
          <a:prstGeom prst="rect">
            <a:avLst/>
          </a:prstGeom>
          <a:solidFill>
            <a:srgbClr val="122A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737360"/>
            <a:ext cx="1737360" cy="777240"/>
          </a:xfrm>
          <a:prstGeom prst="rect">
            <a:avLst/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1737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965960"/>
            <a:ext cx="274320" cy="27432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65960"/>
            <a:ext cx="274320" cy="27432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659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" y="2880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10 pilot targets, predict structure with all 4 tools using default settings, then compare each prediction against the experimentally solved crystal/cryo-EM structure.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68680" y="37947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prediction quality per tool against ground truth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</a:t>
            </a: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targets  ×  4 tools  =  40 predictions + 40 comparisons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</a:t>
            </a: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cwl/workflows/experiment1-within-tool.cwl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Cross-Tool Comparison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1760" y="1280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1728216"/>
            <a:ext cx="914400" cy="429768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72821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728216"/>
            <a:ext cx="914400" cy="42976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172821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728216"/>
            <a:ext cx="914400" cy="42976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320" y="172821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728216"/>
            <a:ext cx="914400" cy="42976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72821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194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2231136"/>
            <a:ext cx="914400" cy="4297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91640" y="223113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2231136"/>
            <a:ext cx="914400" cy="429768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97480" y="223113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2231136"/>
            <a:ext cx="914400" cy="42976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03320" y="223113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231136"/>
            <a:ext cx="914400" cy="42976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23113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2697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91640" y="2734056"/>
            <a:ext cx="914400" cy="4297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91640" y="273405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2734056"/>
            <a:ext cx="914400" cy="4297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97480" y="273405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03320" y="2734056"/>
            <a:ext cx="914400" cy="429768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03320" y="273405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734056"/>
            <a:ext cx="914400" cy="429768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273405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91640" y="3236976"/>
            <a:ext cx="914400" cy="4297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91640" y="323697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97480" y="3236976"/>
            <a:ext cx="914400" cy="4297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697480" y="323697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03320" y="3236976"/>
            <a:ext cx="914400" cy="42976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03320" y="323697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236976"/>
            <a:ext cx="914400" cy="429768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9160" y="3236976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0" y="1691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All-vs-all pairwise structural comparison of predictions from different tools for the same target protein.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66928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tools produce the most similar structures and where they diverge — even when both may differ from experimental ground truth.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8680" y="3931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inter-tool agreement and identify systematic differences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 protein_compare (all-vs-all with experimental reference)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</a:t>
            </a: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cwl/workflows/experiment2-across-tools.cwl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MSA Impact on Prediction Quality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60320" cy="1188720"/>
          </a:xfrm>
          <a:prstGeom prst="rect">
            <a:avLst/>
          </a:prstGeom>
          <a:solidFill>
            <a:srgbClr val="8899A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Single-sequence 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 only)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560320" cy="118872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(MMseqs2)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broad coverage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ColabFold 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2560320" cy="1188720"/>
          </a:xfrm>
          <a:prstGeom prst="rect">
            <a:avLst/>
          </a:prstGeom>
          <a:solidFill>
            <a:srgbClr val="00D4A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(JackHMMER)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Sensitive, iterative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UniRef90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run under all three MSA conditions for every target.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metrics (with-MSA minus without-MSA) quantify the MSA contribution.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0233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MSA contribution to quality + compare MSA generation methods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</a:t>
            </a: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targets  ×  3 tools  ×  3 conditions  =  90 predictions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</a:t>
            </a: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cwl/workflows/experiment3-msa-impact.cwl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MSA Depth Sensitivity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114800" cy="237744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(TM-score)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Depth 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27632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49424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71216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93008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43000" y="353872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4792" y="317296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86584" y="280720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08376" y="257860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30168" y="248716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51960" y="244144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optimal MSA depth by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subsampling from full MSAs: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23317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MSAs: 1, 8, 16, 32, 64, 128, 256, 512, 1024, full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MSA sources: MMseqs2 and JackHMMER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+ diversity-weighted subsampling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quality vs depth learning curves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MSA depth do predictions plateau? Does this differ across tools and MSA sources?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computed via protein_structure_analysis toolkit (protein_compare)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347472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627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627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TM-score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0116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&gt;0.5 same fold, &gt;0.4 similar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44144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350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350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∞ 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350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deviation (lower is better)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6883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6883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26883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confidence (from B-factor column)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11810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0266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GDT-TS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3026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30266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within 1/2/4/8 Å thresholds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364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GDT-HA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33649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33649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High-accuracy: 0.5/1/2/4 Å thresholds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703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RMSD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033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∞ 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37033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pLDDT-weighted, penalizes confident errors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041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Jaccard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4041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40416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map similarity (8Å Cα cutoff)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379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Agreement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0" y="43799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0" y="43799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structure match (H/E/C)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70916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868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metrics used for ranking and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pLDDT Directly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(predicted Local Distance Difference Test) is available from every tool's output — stored in the PDB B-factor column on a 0–100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840480" cy="1234440"/>
          </a:xfrm>
          <a:prstGeom prst="rect">
            <a:avLst/>
          </a:prstGeom>
          <a:solidFill>
            <a:srgbClr val="122A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Confidence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mean pLDDT across tools for the same target — no experimental structure needed. Higher = the model is more confident.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840480" cy="1234440"/>
          </a:xfrm>
          <a:prstGeom prst="rect">
            <a:avLst/>
          </a:prstGeom>
          <a:solidFill>
            <a:srgbClr val="122A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210312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Accuracy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TM-score and RMSD only over high-confidence regions (pLDDT ≥ 70). Are tools accurate where they claim confidence?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840480" cy="1234440"/>
          </a:xfrm>
          <a:prstGeom prst="rect">
            <a:avLst/>
          </a:prstGeom>
          <a:solidFill>
            <a:srgbClr val="122A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vs MSA Depth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mean pLDDT changes with MSA depth in Experiment 4. Does confidence plateau at the same depth as actual accuracy?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3840480" cy="1234440"/>
          </a:xfrm>
          <a:prstGeom prst="rect">
            <a:avLst/>
          </a:prstGeom>
          <a:solidFill>
            <a:srgbClr val="122A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3520440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Analysis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per-residue pLDDT with per-residue distance to experimental. A well-calibrated model has low pLDDT where it's wrong.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617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 </a:t>
            </a: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≥ 70</a:t>
            </a: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Low confidence </a:t>
            </a: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&lt; 50</a:t>
            </a: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Disordered </a:t>
            </a: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&lt; 30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Protein Targets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diverse proteins spanning multiple fold classes and difficulty levels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solidFill>
            <a:srgbClr val="0B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572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82296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1UBQ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92024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47672"/>
            <a:ext cx="640080" cy="2103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9476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21284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1L2Y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21284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Trp-cage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212848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640080" cy="2103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96312"/>
            <a:ext cx="82296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505456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1MBN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250545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Myoglobin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250545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532888"/>
            <a:ext cx="640080" cy="21031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53288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279806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1TEN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279806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Tenascin FnIII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279806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825496"/>
            <a:ext cx="640080" cy="210312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825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081528"/>
            <a:ext cx="82296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309067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1AKE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54480" y="309067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Adenylate kinase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30906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118104"/>
            <a:ext cx="640080" cy="21031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11810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α/β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3383280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4LZT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54480" y="338328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Lysozyme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338328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410712"/>
            <a:ext cx="640080" cy="210312"/>
          </a:xfrm>
          <a:prstGeom prst="rect">
            <a:avLst/>
          </a:prstGeom>
          <a:solidFill>
            <a:srgbClr val="F0C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34107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666744"/>
            <a:ext cx="82296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" y="367588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2SRC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54480" y="3675888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kinase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0" y="3675888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3703320"/>
            <a:ext cx="640080" cy="2103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0" y="370332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" y="3968496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1BL8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554480" y="396849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Galectin-1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0" y="396849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995928"/>
            <a:ext cx="640080" cy="210312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0" y="39959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251960"/>
            <a:ext cx="82296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426110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7MRX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554480" y="426110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CASP14 target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0" y="4261104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54880" y="4288536"/>
            <a:ext cx="640080" cy="2103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54880" y="42885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0080" y="45537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7S0B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554480" y="4553712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CASP15 target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657600" y="45537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754880" y="4581144"/>
            <a:ext cx="640080" cy="2103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54880" y="458114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669280" y="1554480"/>
            <a:ext cx="2834640" cy="320040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89788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Criteria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897880" y="21945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fold classes (α, β, α/β, multi-domain)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Well-resolved structures (&lt; 2.0Å)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sizes (20–452 residues)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easy + hard targets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recent CASP targets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&amp;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9728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685800"/>
          </a:xfrm>
          <a:prstGeom prst="rect">
            <a:avLst/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prepare_targets.py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1554480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94560" y="1371600"/>
            <a:ext cx="1463040" cy="685800"/>
          </a:xfrm>
          <a:prstGeom prst="rect">
            <a:avLst/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19456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9456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MMseqs2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JackHMMER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55448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1371600"/>
            <a:ext cx="1463040" cy="685800"/>
          </a:xfrm>
          <a:prstGeom prst="rect">
            <a:avLst/>
          </a:prstGeom>
          <a:solidFill>
            <a:srgbClr val="17A2B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93192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93192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CWL v1.2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554480"/>
            <a:ext cx="201168" cy="201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0" y="1371600"/>
            <a:ext cx="1463040" cy="685800"/>
          </a:xfrm>
          <a:prstGeom prst="rect">
            <a:avLst/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66928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66928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protein_compare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→ CSV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55448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406640" y="1371600"/>
            <a:ext cx="1463040" cy="685800"/>
          </a:xfrm>
          <a:prstGeom prst="rect">
            <a:avLst/>
          </a:prstGeom>
          <a:solidFill>
            <a:srgbClr val="1B4F7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740664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40664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3152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Engine: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606040" y="34747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 (CWL v1.2, Docker executor)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Tool: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2606040" y="37673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protein_structure_analysis (TM-align, DSSP)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152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Generation: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2606040" y="40599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MMseqs2 (ColabFold DB) + JackHMMER (UniRef90)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31520" y="4352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Containers: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606040" y="43525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wilke/alphafold, dxkb/boltz, dxkb/chai, dxkb/esmfold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25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pilot on 10 targets — validate pipeline end-to-end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88036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50–100 diverse targets from PDB/CASP/CAMEO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47472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multimer and ligand-bound structures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" y="406908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887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comparative benchmarks and best-practice guidelines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22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github.com/dxkb/ProteinFoldingApp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Microsoft Macintosh PowerPoint</Application>
  <PresentationFormat>On-screen Show (16:9)</PresentationFormat>
  <Paragraphs>267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 Folding Model Comparison: MSA Impact Study</dc:title>
  <dc:subject>PptxGenJS Presentation</dc:subject>
  <dc:creator>Andreas Wilke</dc:creator>
  <cp:lastModifiedBy>Wilke, Andreas</cp:lastModifiedBy>
  <cp:revision>2</cp:revision>
  <dcterms:created xsi:type="dcterms:W3CDTF">2026-02-16T03:48:39Z</dcterms:created>
  <dcterms:modified xsi:type="dcterms:W3CDTF">2026-02-16T03:49:58Z</dcterms:modified>
</cp:coreProperties>
</file>